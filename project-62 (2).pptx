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273" r:id="rId3"/>
    <p:sldId id="259" r:id="rId4"/>
    <p:sldId id="260" r:id="rId5"/>
    <p:sldId id="261" r:id="rId6"/>
    <p:sldId id="262" r:id="rId7"/>
    <p:sldId id="263" r:id="rId8"/>
    <p:sldId id="272" r:id="rId9"/>
    <p:sldId id="271" r:id="rId10"/>
    <p:sldId id="270" r:id="rId11"/>
    <p:sldId id="265" r:id="rId12"/>
    <p:sldId id="269" r:id="rId13"/>
    <p:sldId id="26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550" autoAdjust="0"/>
  </p:normalViewPr>
  <p:slideViewPr>
    <p:cSldViewPr>
      <p:cViewPr varScale="1">
        <p:scale>
          <a:sx n="75" d="100"/>
          <a:sy n="75" d="100"/>
        </p:scale>
        <p:origin x="169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3693784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918973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2865026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2EAD38-61FA-4455-9911-444397DCC81F}" type="datetimeFigureOut">
              <a:rPr lang="en-US" smtClean="0"/>
              <a:t>5/14/2022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341743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2EAD38-61FA-4455-9911-444397DCC81F}" type="datetimeFigureOut">
              <a:rPr lang="en-US" smtClean="0"/>
              <a:t>5/14/2022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1296400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2EAD38-61FA-4455-9911-444397DCC81F}" type="datetimeFigureOut">
              <a:rPr lang="en-US" smtClean="0"/>
              <a:t>5/14/2022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141015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2EAD38-61FA-4455-9911-444397DCC81F}" type="datetimeFigureOut">
              <a:rPr lang="en-US" smtClean="0"/>
              <a:t>5/14/2022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1280998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32EAD38-61FA-4455-9911-444397DCC81F}" type="datetimeFigureOut">
              <a:rPr lang="en-US" smtClean="0"/>
              <a:t>5/14/2022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3279135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2EAD38-61FA-4455-9911-444397DCC81F}" type="datetimeFigureOut">
              <a:rPr lang="en-US" smtClean="0"/>
              <a:t>5/14/2022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1051615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457734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1404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4269591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6702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970198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1174114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2EAD38-61FA-4455-9911-444397DCC81F}" type="datetimeFigureOut">
              <a:rPr lang="en-US" smtClean="0"/>
              <a:t>5/14/2022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AB0787-E8DD-4E0D-98D2-CD6D5BD16CC4}" type="slidenum">
              <a:rPr lang="en-US" smtClean="0"/>
              <a:t>‹#›</a:t>
            </a:fld>
            <a:endParaRPr lang="en-US"/>
          </a:p>
        </p:txBody>
      </p:sp>
    </p:spTree>
    <p:extLst>
      <p:ext uri="{BB962C8B-B14F-4D97-AF65-F5344CB8AC3E}">
        <p14:creationId xmlns:p14="http://schemas.microsoft.com/office/powerpoint/2010/main" val="27690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32EAD38-61FA-4455-9911-444397DCC81F}" type="datetimeFigureOut">
              <a:rPr lang="en-US" smtClean="0"/>
              <a:t>5/14/2022</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7CAB0787-E8DD-4E0D-98D2-CD6D5BD16CC4}" type="slidenum">
              <a:rPr lang="en-US" smtClean="0"/>
              <a:t>‹#›</a:t>
            </a:fld>
            <a:endParaRPr lang="en-US"/>
          </a:p>
        </p:txBody>
      </p:sp>
    </p:spTree>
    <p:extLst>
      <p:ext uri="{BB962C8B-B14F-4D97-AF65-F5344CB8AC3E}">
        <p14:creationId xmlns:p14="http://schemas.microsoft.com/office/powerpoint/2010/main" val="766224799"/>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228600"/>
            <a:ext cx="7772400" cy="2209799"/>
          </a:xfrm>
        </p:spPr>
        <p:txBody>
          <a:bodyPr>
            <a:normAutofit/>
          </a:bodyPr>
          <a:lstStyle/>
          <a:p>
            <a:r>
              <a:rPr lang="en-US" sz="3200" dirty="0">
                <a:latin typeface="Arial Black" pitchFamily="34" charset="0"/>
              </a:rPr>
              <a:t>AUTOMATE INFRASTRUCTURE</a:t>
            </a:r>
            <a:br>
              <a:rPr lang="en-US" sz="3200" dirty="0">
                <a:latin typeface="Arial Black" pitchFamily="34" charset="0"/>
              </a:rPr>
            </a:br>
            <a:r>
              <a:rPr lang="en-US" sz="3200" dirty="0">
                <a:latin typeface="Arial Black" pitchFamily="34" charset="0"/>
              </a:rPr>
              <a:t> IN AWS CLOUD</a:t>
            </a:r>
          </a:p>
        </p:txBody>
      </p:sp>
      <p:sp>
        <p:nvSpPr>
          <p:cNvPr id="3" name="Subtitle 2"/>
          <p:cNvSpPr>
            <a:spLocks noGrp="1"/>
          </p:cNvSpPr>
          <p:nvPr>
            <p:ph type="subTitle" idx="1"/>
          </p:nvPr>
        </p:nvSpPr>
        <p:spPr>
          <a:xfrm>
            <a:off x="-228600" y="2286000"/>
            <a:ext cx="7772400" cy="3733800"/>
          </a:xfrm>
        </p:spPr>
        <p:txBody>
          <a:bodyPr>
            <a:noAutofit/>
          </a:bodyPr>
          <a:lstStyle/>
          <a:p>
            <a:r>
              <a:rPr lang="en-US" sz="2000" dirty="0">
                <a:latin typeface="Arial" pitchFamily="34" charset="0"/>
                <a:cs typeface="Arial" pitchFamily="34" charset="0"/>
              </a:rPr>
              <a:t>                  </a:t>
            </a:r>
          </a:p>
          <a:p>
            <a:endParaRPr lang="en-US" sz="2000" dirty="0">
              <a:latin typeface="Arial" pitchFamily="34" charset="0"/>
              <a:cs typeface="Arial" pitchFamily="34" charset="0"/>
            </a:endParaRPr>
          </a:p>
          <a:p>
            <a:endParaRPr lang="en-US" sz="2000" dirty="0">
              <a:latin typeface="Arial" pitchFamily="34" charset="0"/>
              <a:cs typeface="Arial" pitchFamily="34" charset="0"/>
            </a:endParaRPr>
          </a:p>
          <a:p>
            <a:endParaRPr lang="en-US" sz="2000" dirty="0">
              <a:latin typeface="Arial" pitchFamily="34" charset="0"/>
              <a:cs typeface="Arial" pitchFamily="34" charset="0"/>
            </a:endParaRPr>
          </a:p>
          <a:p>
            <a:r>
              <a:rPr lang="en-US" sz="2000" dirty="0">
                <a:latin typeface="Arial" pitchFamily="34" charset="0"/>
                <a:cs typeface="Arial" pitchFamily="34" charset="0"/>
              </a:rPr>
              <a:t>                                        </a:t>
            </a:r>
            <a:r>
              <a:rPr lang="en-US" sz="2000" u="sng" dirty="0">
                <a:latin typeface="Arial" pitchFamily="34" charset="0"/>
                <a:cs typeface="Arial" pitchFamily="34" charset="0"/>
              </a:rPr>
              <a:t>TEAM </a:t>
            </a:r>
            <a:r>
              <a:rPr lang="en-US" sz="2000" b="1" u="sng" dirty="0">
                <a:solidFill>
                  <a:schemeClr val="tx1"/>
                </a:solidFill>
                <a:latin typeface="Arial" pitchFamily="34" charset="0"/>
                <a:cs typeface="Arial" pitchFamily="34" charset="0"/>
              </a:rPr>
              <a:t>No:62</a:t>
            </a:r>
          </a:p>
          <a:p>
            <a:pPr algn="just"/>
            <a:r>
              <a:rPr lang="en-US" sz="2000" dirty="0">
                <a:latin typeface="Arial" pitchFamily="34" charset="0"/>
                <a:cs typeface="Arial" pitchFamily="34" charset="0"/>
              </a:rPr>
              <a:t>                                                               </a:t>
            </a:r>
            <a:r>
              <a:rPr lang="en-US" sz="2000" dirty="0">
                <a:solidFill>
                  <a:schemeClr val="tx1"/>
                </a:solidFill>
                <a:latin typeface="Arial" pitchFamily="34" charset="0"/>
                <a:cs typeface="Arial" pitchFamily="34" charset="0"/>
              </a:rPr>
              <a:t>19P31A05A6-Kamalatha</a:t>
            </a:r>
          </a:p>
          <a:p>
            <a:pPr algn="just"/>
            <a:r>
              <a:rPr lang="en-US" sz="2000" dirty="0">
                <a:solidFill>
                  <a:schemeClr val="tx1"/>
                </a:solidFill>
                <a:latin typeface="Arial" pitchFamily="34" charset="0"/>
                <a:cs typeface="Arial" pitchFamily="34" charset="0"/>
              </a:rPr>
              <a:t>                                                               19P31A0581-Swetha</a:t>
            </a:r>
          </a:p>
          <a:p>
            <a:pPr algn="just"/>
            <a:r>
              <a:rPr lang="en-US" sz="2000" dirty="0">
                <a:solidFill>
                  <a:schemeClr val="tx1"/>
                </a:solidFill>
                <a:latin typeface="Arial" pitchFamily="34" charset="0"/>
                <a:cs typeface="Arial" pitchFamily="34" charset="0"/>
              </a:rPr>
              <a:t>                                                               19P31A05A5-Sai </a:t>
            </a:r>
            <a:r>
              <a:rPr lang="en-US" sz="2000" dirty="0" err="1">
                <a:solidFill>
                  <a:schemeClr val="tx1"/>
                </a:solidFill>
                <a:latin typeface="Arial" pitchFamily="34" charset="0"/>
                <a:cs typeface="Arial" pitchFamily="34" charset="0"/>
              </a:rPr>
              <a:t>Lakshmi</a:t>
            </a:r>
            <a:endParaRPr lang="en-US" sz="2000" dirty="0">
              <a:solidFill>
                <a:schemeClr val="tx1"/>
              </a:solidFill>
              <a:latin typeface="Arial" pitchFamily="34" charset="0"/>
              <a:cs typeface="Arial" pitchFamily="34" charset="0"/>
            </a:endParaRPr>
          </a:p>
          <a:p>
            <a:pPr algn="just"/>
            <a:r>
              <a:rPr lang="en-US" sz="2000" dirty="0">
                <a:solidFill>
                  <a:schemeClr val="tx1"/>
                </a:solidFill>
                <a:latin typeface="Arial" pitchFamily="34" charset="0"/>
                <a:cs typeface="Arial" pitchFamily="34" charset="0"/>
              </a:rPr>
              <a:t>                                                               19P31A0588-Jyothi</a:t>
            </a:r>
          </a:p>
        </p:txBody>
      </p:sp>
      <p:pic>
        <p:nvPicPr>
          <p:cNvPr id="8" name="Picture 7">
            <a:extLst>
              <a:ext uri="{FF2B5EF4-FFF2-40B4-BE49-F238E27FC236}">
                <a16:creationId xmlns:a16="http://schemas.microsoft.com/office/drawing/2014/main" id="{3086B7D4-5C2A-051F-7FCB-BA4F5CD759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3009900"/>
            <a:ext cx="3276600" cy="32766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ADDE-B383-CAC9-5313-F61EB6280488}"/>
              </a:ext>
            </a:extLst>
          </p:cNvPr>
          <p:cNvSpPr>
            <a:spLocks noGrp="1"/>
          </p:cNvSpPr>
          <p:nvPr>
            <p:ph type="title"/>
          </p:nvPr>
        </p:nvSpPr>
        <p:spPr/>
        <p:txBody>
          <a:bodyPr>
            <a:normAutofit fontScale="90000"/>
          </a:bodyPr>
          <a:lstStyle/>
          <a:p>
            <a:r>
              <a:rPr lang="en-US" sz="6000" dirty="0"/>
              <a:t>AWS </a:t>
            </a:r>
            <a:r>
              <a:rPr lang="en-US" sz="4800" dirty="0"/>
              <a:t>(Amazon web services)</a:t>
            </a:r>
            <a:endParaRPr lang="en-IN" sz="6000" dirty="0"/>
          </a:p>
        </p:txBody>
      </p:sp>
      <p:pic>
        <p:nvPicPr>
          <p:cNvPr id="5" name="Content Placeholder 4">
            <a:extLst>
              <a:ext uri="{FF2B5EF4-FFF2-40B4-BE49-F238E27FC236}">
                <a16:creationId xmlns:a16="http://schemas.microsoft.com/office/drawing/2014/main" id="{2E6F39B3-C9E0-2EFA-9DC2-B6AC9ED6E2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286000"/>
            <a:ext cx="6400800" cy="3476408"/>
          </a:xfrm>
        </p:spPr>
      </p:pic>
    </p:spTree>
    <p:extLst>
      <p:ext uri="{BB962C8B-B14F-4D97-AF65-F5344CB8AC3E}">
        <p14:creationId xmlns:p14="http://schemas.microsoft.com/office/powerpoint/2010/main" val="4166653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chemeClr val="accent1"/>
                </a:solidFill>
                <a:latin typeface="Times New Roman" pitchFamily="18" charset="0"/>
                <a:cs typeface="Times New Roman" pitchFamily="18" charset="0"/>
              </a:rPr>
              <a:t>AUTOMATE INFRASTRUCTURE IN AWS CLOUD</a:t>
            </a:r>
          </a:p>
        </p:txBody>
      </p:sp>
      <p:sp>
        <p:nvSpPr>
          <p:cNvPr id="3" name="Content Placeholder 2"/>
          <p:cNvSpPr>
            <a:spLocks noGrp="1"/>
          </p:cNvSpPr>
          <p:nvPr>
            <p:ph idx="1"/>
          </p:nvPr>
        </p:nvSpPr>
        <p:spPr>
          <a:xfrm>
            <a:off x="914400" y="1981200"/>
            <a:ext cx="7772400" cy="4038600"/>
          </a:xfrm>
        </p:spPr>
        <p:txBody>
          <a:bodyPr>
            <a:normAutofit/>
          </a:bodyPr>
          <a:lstStyle/>
          <a:p>
            <a:r>
              <a:rPr lang="en-US" dirty="0"/>
              <a:t>Infrastructure automation is the use of technology that performs tasks with reduce human assistance in order to control the hardware.</a:t>
            </a:r>
          </a:p>
          <a:p>
            <a:r>
              <a:rPr lang="en-US" dirty="0"/>
              <a:t>There are two ways to automate the infrastructure</a:t>
            </a:r>
          </a:p>
          <a:p>
            <a:pPr>
              <a:buNone/>
            </a:pPr>
            <a:r>
              <a:rPr lang="en-US" dirty="0"/>
              <a:t>        1.Cloud formation(Internal  Service provided by the </a:t>
            </a:r>
            <a:r>
              <a:rPr lang="en-US" dirty="0" err="1"/>
              <a:t>aws</a:t>
            </a:r>
            <a:r>
              <a:rPr lang="en-US" dirty="0"/>
              <a:t>)</a:t>
            </a:r>
          </a:p>
          <a:p>
            <a:pPr marL="514350" indent="-514350">
              <a:buNone/>
            </a:pPr>
            <a:r>
              <a:rPr lang="en-US" dirty="0"/>
              <a:t>        2.Terraform (External tool)         </a:t>
            </a:r>
          </a:p>
          <a:p>
            <a:pPr>
              <a:buNone/>
            </a:pPr>
            <a:endParaRPr lang="en-US" dirty="0"/>
          </a:p>
        </p:txBody>
      </p:sp>
      <p:pic>
        <p:nvPicPr>
          <p:cNvPr id="5" name="Picture 4">
            <a:extLst>
              <a:ext uri="{FF2B5EF4-FFF2-40B4-BE49-F238E27FC236}">
                <a16:creationId xmlns:a16="http://schemas.microsoft.com/office/drawing/2014/main" id="{AACC82BA-D275-7291-6AD4-0149DF1333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4267676"/>
            <a:ext cx="4648200" cy="2338626"/>
          </a:xfrm>
          <a:prstGeom prst="rect">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FORMATION</a:t>
            </a:r>
          </a:p>
        </p:txBody>
      </p:sp>
      <p:sp>
        <p:nvSpPr>
          <p:cNvPr id="3" name="Content Placeholder 2"/>
          <p:cNvSpPr>
            <a:spLocks noGrp="1"/>
          </p:cNvSpPr>
          <p:nvPr>
            <p:ph idx="1"/>
          </p:nvPr>
        </p:nvSpPr>
        <p:spPr>
          <a:xfrm>
            <a:off x="914400" y="1447800"/>
            <a:ext cx="7772400" cy="3657600"/>
          </a:xfrm>
        </p:spPr>
        <p:txBody>
          <a:bodyPr>
            <a:normAutofit/>
          </a:bodyPr>
          <a:lstStyle/>
          <a:p>
            <a:pPr>
              <a:buNone/>
            </a:pPr>
            <a:endParaRPr lang="en-US" dirty="0"/>
          </a:p>
          <a:p>
            <a:r>
              <a:rPr lang="en-US" dirty="0"/>
              <a:t>AWS Cloud Formation is a service that helps you model and set up your AWS resources so that you can spend less time managing those resources that run in </a:t>
            </a:r>
            <a:r>
              <a:rPr lang="en-US" dirty="0" err="1"/>
              <a:t>aws</a:t>
            </a:r>
            <a:r>
              <a:rPr lang="en-US" dirty="0"/>
              <a:t>.</a:t>
            </a:r>
          </a:p>
          <a:p>
            <a:r>
              <a:rPr lang="en-US" dirty="0"/>
              <a:t>You create a template that describes all the AWS resources that you want (like Amazon EC2 instances ).</a:t>
            </a:r>
          </a:p>
          <a:p>
            <a:r>
              <a:rPr lang="en-US" dirty="0"/>
              <a:t>Cloud Formation takes care of provisioning and configuring those resources for you. You don't need to individually create and configure AWS resources.</a:t>
            </a:r>
          </a:p>
        </p:txBody>
      </p:sp>
      <p:pic>
        <p:nvPicPr>
          <p:cNvPr id="5" name="Picture 4">
            <a:extLst>
              <a:ext uri="{FF2B5EF4-FFF2-40B4-BE49-F238E27FC236}">
                <a16:creationId xmlns:a16="http://schemas.microsoft.com/office/drawing/2014/main" id="{71394E92-5605-A330-5163-BDCE81259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4495801"/>
            <a:ext cx="3657600" cy="17989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a:solidFill>
                  <a:schemeClr val="accent1"/>
                </a:solidFill>
              </a:rPr>
              <a:t>CLOUD FORMATION SAMPLE TEMPLATE FOR AUTOMATE EC2 INSTANCE</a:t>
            </a:r>
          </a:p>
        </p:txBody>
      </p:sp>
      <p:pic>
        <p:nvPicPr>
          <p:cNvPr id="7" name="Content Placeholder 6" descr="Screenshot (2).png"/>
          <p:cNvPicPr>
            <a:picLocks noGrp="1" noChangeAspect="1"/>
          </p:cNvPicPr>
          <p:nvPr>
            <p:ph idx="1"/>
          </p:nvPr>
        </p:nvPicPr>
        <p:blipFill>
          <a:blip r:embed="rId2" cstate="print"/>
          <a:stretch>
            <a:fillRect/>
          </a:stretch>
        </p:blipFill>
        <p:spPr>
          <a:xfrm>
            <a:off x="609600" y="2133600"/>
            <a:ext cx="7391400" cy="38862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accent2"/>
                </a:solidFill>
                <a:latin typeface="Algerian" pitchFamily="82" charset="0"/>
              </a:rPr>
              <a:t>DRAWBACKS OF CLOUD FORMATION</a:t>
            </a:r>
          </a:p>
        </p:txBody>
      </p:sp>
      <p:sp>
        <p:nvSpPr>
          <p:cNvPr id="3" name="Content Placeholder 2"/>
          <p:cNvSpPr>
            <a:spLocks noGrp="1"/>
          </p:cNvSpPr>
          <p:nvPr>
            <p:ph idx="1"/>
          </p:nvPr>
        </p:nvSpPr>
        <p:spPr>
          <a:xfrm>
            <a:off x="457200" y="1949254"/>
            <a:ext cx="7772400" cy="3918146"/>
          </a:xfrm>
        </p:spPr>
        <p:txBody>
          <a:bodyPr>
            <a:normAutofit lnSpcReduction="10000"/>
          </a:bodyPr>
          <a:lstStyle/>
          <a:p>
            <a:r>
              <a:rPr lang="en-US" sz="2400" b="1" i="0" dirty="0">
                <a:solidFill>
                  <a:schemeClr val="tx1">
                    <a:lumMod val="95000"/>
                  </a:schemeClr>
                </a:solidFill>
                <a:effectLst/>
                <a:latin typeface="gotham-medium"/>
              </a:rPr>
              <a:t>It is not possible to 100% check a template locally,</a:t>
            </a:r>
            <a:r>
              <a:rPr lang="en-US" sz="2400" b="1" i="0" dirty="0">
                <a:solidFill>
                  <a:schemeClr val="tx1">
                    <a:lumMod val="95000"/>
                  </a:schemeClr>
                </a:solidFill>
                <a:effectLst/>
                <a:latin typeface="gotham"/>
              </a:rPr>
              <a:t> it is only possible to be certain of syntactic correctness without first executing it.</a:t>
            </a:r>
          </a:p>
          <a:p>
            <a:r>
              <a:rPr lang="en-US" sz="2400" b="1" dirty="0"/>
              <a:t>Cloud formation is confined only to </a:t>
            </a:r>
            <a:r>
              <a:rPr lang="en-US" sz="2400" b="1" dirty="0" err="1"/>
              <a:t>aws.We</a:t>
            </a:r>
            <a:r>
              <a:rPr lang="en-US" sz="2400" b="1" dirty="0"/>
              <a:t> can’t use other cloud service platforms like azure, </a:t>
            </a:r>
            <a:r>
              <a:rPr lang="en-US" sz="2400" b="1" dirty="0" err="1"/>
              <a:t>kubernetes</a:t>
            </a:r>
            <a:r>
              <a:rPr lang="en-US" sz="2400" b="1" dirty="0"/>
              <a:t> etc.. Because it is internal service of </a:t>
            </a:r>
            <a:r>
              <a:rPr lang="en-US" sz="2400" b="1" dirty="0" err="1"/>
              <a:t>aws</a:t>
            </a:r>
            <a:r>
              <a:rPr lang="en-US" sz="2400" b="1" dirty="0"/>
              <a:t>.</a:t>
            </a:r>
          </a:p>
          <a:p>
            <a:r>
              <a:rPr lang="en-US" sz="2400" b="1" i="0" dirty="0">
                <a:solidFill>
                  <a:schemeClr val="tx1"/>
                </a:solidFill>
                <a:effectLst/>
                <a:latin typeface="gotham"/>
              </a:rPr>
              <a:t> At least, not always; in fact, </a:t>
            </a:r>
            <a:r>
              <a:rPr lang="en-US" sz="2400" b="1" i="0" dirty="0">
                <a:solidFill>
                  <a:schemeClr val="tx1"/>
                </a:solidFill>
                <a:effectLst/>
                <a:latin typeface="gotham-medium"/>
              </a:rPr>
              <a:t>there are many configurations and/or resources that cannot be specified in an AWS CloudFormation template.</a:t>
            </a:r>
          </a:p>
          <a:p>
            <a:endParaRPr lang="en-US" sz="2400" b="1" dirty="0">
              <a:solidFill>
                <a:schemeClr val="tx1"/>
              </a:solidFill>
            </a:endParaRP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2"/>
                </a:solidFill>
                <a:latin typeface="Times New Roman" pitchFamily="18" charset="0"/>
                <a:cs typeface="Times New Roman" pitchFamily="18" charset="0"/>
              </a:rPr>
              <a:t>TERRAFORM</a:t>
            </a:r>
          </a:p>
        </p:txBody>
      </p:sp>
      <p:sp>
        <p:nvSpPr>
          <p:cNvPr id="3" name="Content Placeholder 2"/>
          <p:cNvSpPr>
            <a:spLocks noGrp="1"/>
          </p:cNvSpPr>
          <p:nvPr>
            <p:ph idx="1"/>
          </p:nvPr>
        </p:nvSpPr>
        <p:spPr>
          <a:xfrm>
            <a:off x="609599" y="1371600"/>
            <a:ext cx="6347714" cy="5181600"/>
          </a:xfrm>
        </p:spPr>
        <p:txBody>
          <a:bodyPr>
            <a:normAutofit/>
          </a:bodyPr>
          <a:lstStyle/>
          <a:p>
            <a:pPr marL="514350" indent="-514350">
              <a:buFont typeface="Wingdings" pitchFamily="2" charset="2"/>
              <a:buChar char="Ø"/>
            </a:pPr>
            <a:r>
              <a:rPr lang="en-US" dirty="0" err="1"/>
              <a:t>Terraform</a:t>
            </a:r>
            <a:r>
              <a:rPr lang="en-US" dirty="0"/>
              <a:t> is a open-source, and it is a tool to manage entire infrastructure using infrastructure as code.</a:t>
            </a:r>
          </a:p>
          <a:p>
            <a:pPr marL="514350" indent="-514350">
              <a:buFont typeface="Wingdings" pitchFamily="2" charset="2"/>
              <a:buChar char="Ø"/>
            </a:pPr>
            <a:r>
              <a:rPr lang="en-US" dirty="0"/>
              <a:t>Terraform supports all cloud vendors like </a:t>
            </a:r>
            <a:r>
              <a:rPr lang="en-US" dirty="0" err="1"/>
              <a:t>aws</a:t>
            </a:r>
            <a:r>
              <a:rPr lang="en-US" dirty="0"/>
              <a:t>, azure, </a:t>
            </a:r>
            <a:r>
              <a:rPr lang="en-US" dirty="0" err="1"/>
              <a:t>kubernetes</a:t>
            </a:r>
            <a:r>
              <a:rPr lang="en-US" dirty="0"/>
              <a:t> and many other.</a:t>
            </a:r>
          </a:p>
          <a:p>
            <a:pPr marL="514350" indent="-514350">
              <a:buNone/>
            </a:pPr>
            <a:endParaRPr lang="en-US" dirty="0"/>
          </a:p>
          <a:p>
            <a:pPr marL="514350" indent="-514350">
              <a:buFont typeface="Wingdings" pitchFamily="2" charset="2"/>
              <a:buChar char="Ø"/>
            </a:pPr>
            <a:endParaRPr lang="en-US" dirty="0"/>
          </a:p>
          <a:p>
            <a:pPr marL="514350" indent="-514350">
              <a:buFont typeface="Wingdings" pitchFamily="2" charset="2"/>
              <a:buChar char="Ø"/>
            </a:pPr>
            <a:endParaRPr lang="en-US" dirty="0"/>
          </a:p>
          <a:p>
            <a:pPr marL="514350" indent="-514350">
              <a:buFont typeface="Wingdings" pitchFamily="2" charset="2"/>
              <a:buChar char="Ø"/>
            </a:pPr>
            <a:endParaRPr lang="en-US" dirty="0"/>
          </a:p>
          <a:p>
            <a:pPr marL="514350" indent="-514350">
              <a:buFont typeface="Wingdings" pitchFamily="2" charset="2"/>
              <a:buChar char="Ø"/>
            </a:pPr>
            <a:endParaRPr lang="en-US" dirty="0"/>
          </a:p>
          <a:p>
            <a:pPr marL="514350" indent="-514350">
              <a:buFont typeface="Wingdings" pitchFamily="2" charset="2"/>
              <a:buChar char="Ø"/>
            </a:pPr>
            <a:endParaRPr lang="en-US" dirty="0"/>
          </a:p>
          <a:p>
            <a:pPr marL="514350" indent="-514350">
              <a:buFont typeface="Wingdings" pitchFamily="2" charset="2"/>
              <a:buChar char="Ø"/>
            </a:pPr>
            <a:endParaRPr lang="en-US" dirty="0"/>
          </a:p>
          <a:p>
            <a:pPr marL="514350" indent="-514350">
              <a:buFont typeface="Wingdings" pitchFamily="2" charset="2"/>
              <a:buChar char="Ø"/>
            </a:pPr>
            <a:r>
              <a:rPr lang="en-US" dirty="0"/>
              <a:t>Terraform is a declarative nature. It directly defines end state of the system.</a:t>
            </a:r>
          </a:p>
          <a:p>
            <a:pPr>
              <a:buNone/>
            </a:pPr>
            <a:endParaRPr lang="en-US" dirty="0"/>
          </a:p>
          <a:p>
            <a:endParaRPr lang="en-US" dirty="0"/>
          </a:p>
        </p:txBody>
      </p:sp>
      <p:pic>
        <p:nvPicPr>
          <p:cNvPr id="6" name="Picture 5">
            <a:extLst>
              <a:ext uri="{FF2B5EF4-FFF2-40B4-BE49-F238E27FC236}">
                <a16:creationId xmlns:a16="http://schemas.microsoft.com/office/drawing/2014/main" id="{8179B784-6F8E-E316-89FC-9031293A86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2950516"/>
            <a:ext cx="3170023" cy="2154884"/>
          </a:xfrm>
          <a:prstGeom prst="rect">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56851C-63DF-5C3C-ED6A-0C9CBC8D0C15}"/>
              </a:ext>
            </a:extLst>
          </p:cNvPr>
          <p:cNvSpPr>
            <a:spLocks noGrp="1"/>
          </p:cNvSpPr>
          <p:nvPr>
            <p:ph idx="1"/>
          </p:nvPr>
        </p:nvSpPr>
        <p:spPr>
          <a:xfrm>
            <a:off x="533400" y="304800"/>
            <a:ext cx="6347714" cy="3880773"/>
          </a:xfrm>
        </p:spPr>
        <p:txBody>
          <a:bodyPr/>
          <a:lstStyle/>
          <a:p>
            <a:r>
              <a:rPr lang="en-IN" dirty="0"/>
              <a:t>Terraform is a tool for creating infrastructure . It </a:t>
            </a:r>
            <a:r>
              <a:rPr lang="en-IN" dirty="0" err="1"/>
              <a:t>builts</a:t>
            </a:r>
            <a:r>
              <a:rPr lang="en-IN" dirty="0"/>
              <a:t> to automate the provisioning of infrastructure resources.</a:t>
            </a:r>
          </a:p>
          <a:p>
            <a:r>
              <a:rPr lang="en-IN" dirty="0"/>
              <a:t>It is used to built for  manage, update infrastructure resources like virtual </a:t>
            </a:r>
            <a:r>
              <a:rPr lang="en-IN" dirty="0" err="1"/>
              <a:t>machines,networking</a:t>
            </a:r>
            <a:r>
              <a:rPr lang="en-IN" dirty="0"/>
              <a:t> and others..</a:t>
            </a:r>
          </a:p>
        </p:txBody>
      </p:sp>
      <p:pic>
        <p:nvPicPr>
          <p:cNvPr id="4" name="Content Placeholder 3" descr="Screenshot (3).png">
            <a:extLst>
              <a:ext uri="{FF2B5EF4-FFF2-40B4-BE49-F238E27FC236}">
                <a16:creationId xmlns:a16="http://schemas.microsoft.com/office/drawing/2014/main" id="{3ABBC375-0B42-78BF-7CEA-01FA4859EF06}"/>
              </a:ext>
            </a:extLst>
          </p:cNvPr>
          <p:cNvPicPr>
            <a:picLocks noChangeAspect="1"/>
          </p:cNvPicPr>
          <p:nvPr/>
        </p:nvPicPr>
        <p:blipFill>
          <a:blip r:embed="rId2" cstate="print"/>
          <a:stretch>
            <a:fillRect/>
          </a:stretch>
        </p:blipFill>
        <p:spPr>
          <a:xfrm>
            <a:off x="838200" y="2819400"/>
            <a:ext cx="6348413" cy="38303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6ADA29AF-B349-DC95-1A81-4923E43840EB}"/>
              </a:ext>
            </a:extLst>
          </p:cNvPr>
          <p:cNvSpPr txBox="1"/>
          <p:nvPr/>
        </p:nvSpPr>
        <p:spPr>
          <a:xfrm>
            <a:off x="1066800" y="2060520"/>
            <a:ext cx="5578736" cy="523220"/>
          </a:xfrm>
          <a:prstGeom prst="rect">
            <a:avLst/>
          </a:prstGeom>
          <a:noFill/>
        </p:spPr>
        <p:txBody>
          <a:bodyPr wrap="square">
            <a:spAutoFit/>
          </a:bodyPr>
          <a:lstStyle/>
          <a:p>
            <a:r>
              <a:rPr lang="en-US" sz="2800" b="1" dirty="0">
                <a:solidFill>
                  <a:schemeClr val="accent2">
                    <a:lumMod val="60000"/>
                    <a:lumOff val="40000"/>
                  </a:schemeClr>
                </a:solidFill>
              </a:rPr>
              <a:t>TERRAFORM ARCHITECHTURE</a:t>
            </a:r>
            <a:endParaRPr lang="en-IN" sz="2800" b="1" dirty="0">
              <a:solidFill>
                <a:schemeClr val="accent2">
                  <a:lumMod val="60000"/>
                  <a:lumOff val="40000"/>
                </a:schemeClr>
              </a:solidFill>
            </a:endParaRPr>
          </a:p>
        </p:txBody>
      </p:sp>
    </p:spTree>
    <p:extLst>
      <p:ext uri="{BB962C8B-B14F-4D97-AF65-F5344CB8AC3E}">
        <p14:creationId xmlns:p14="http://schemas.microsoft.com/office/powerpoint/2010/main" val="3658314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FAF8-A03E-782E-4722-8347CC9931AB}"/>
              </a:ext>
            </a:extLst>
          </p:cNvPr>
          <p:cNvSpPr>
            <a:spLocks noGrp="1"/>
          </p:cNvSpPr>
          <p:nvPr>
            <p:ph type="title"/>
          </p:nvPr>
        </p:nvSpPr>
        <p:spPr/>
        <p:txBody>
          <a:bodyPr/>
          <a:lstStyle/>
          <a:p>
            <a:r>
              <a:rPr lang="en-IN" dirty="0"/>
              <a:t>ARCHITECTURE COMPONENTS</a:t>
            </a:r>
          </a:p>
        </p:txBody>
      </p:sp>
      <p:sp>
        <p:nvSpPr>
          <p:cNvPr id="3" name="Content Placeholder 2">
            <a:extLst>
              <a:ext uri="{FF2B5EF4-FFF2-40B4-BE49-F238E27FC236}">
                <a16:creationId xmlns:a16="http://schemas.microsoft.com/office/drawing/2014/main" id="{8578ECE7-FA5A-3F6A-5376-206822984434}"/>
              </a:ext>
            </a:extLst>
          </p:cNvPr>
          <p:cNvSpPr>
            <a:spLocks noGrp="1"/>
          </p:cNvSpPr>
          <p:nvPr>
            <p:ph idx="1"/>
          </p:nvPr>
        </p:nvSpPr>
        <p:spPr>
          <a:xfrm>
            <a:off x="614081" y="1524000"/>
            <a:ext cx="6347714" cy="4545010"/>
          </a:xfrm>
        </p:spPr>
        <p:txBody>
          <a:bodyPr>
            <a:normAutofit lnSpcReduction="10000"/>
          </a:bodyPr>
          <a:lstStyle/>
          <a:p>
            <a:r>
              <a:rPr lang="en-IN" dirty="0"/>
              <a:t>Terraform is the code tool. It defines the resources and infrastructure in human readable declarative configuration  files.</a:t>
            </a:r>
          </a:p>
          <a:p>
            <a:r>
              <a:rPr lang="en-IN" dirty="0"/>
              <a:t>Terraform architecture is having 2 main components</a:t>
            </a:r>
          </a:p>
          <a:p>
            <a:r>
              <a:rPr lang="en-IN" dirty="0"/>
              <a:t>CORE-it is having 2 input sources</a:t>
            </a:r>
          </a:p>
          <a:p>
            <a:r>
              <a:rPr lang="en-IN" dirty="0"/>
              <a:t>State And TF configuration file</a:t>
            </a:r>
          </a:p>
          <a:p>
            <a:r>
              <a:rPr lang="en-IN" dirty="0"/>
              <a:t>User need to define what needs to be created, update, destroy.</a:t>
            </a:r>
          </a:p>
          <a:p>
            <a:endParaRPr lang="en-IN" dirty="0"/>
          </a:p>
          <a:p>
            <a:pPr marL="0" indent="0">
              <a:buNone/>
            </a:pPr>
            <a:r>
              <a:rPr lang="en-IN" dirty="0"/>
              <a:t>PROVIDERS :</a:t>
            </a:r>
          </a:p>
          <a:p>
            <a:pPr marL="0" indent="0">
              <a:buNone/>
            </a:pPr>
            <a:r>
              <a:rPr lang="en-IN" dirty="0"/>
              <a:t>Provider is just code that knows how to communicate to specific technology or platforms.</a:t>
            </a:r>
          </a:p>
          <a:p>
            <a:pPr marL="0" indent="0">
              <a:buNone/>
            </a:pPr>
            <a:r>
              <a:rPr lang="en-IN" dirty="0"/>
              <a:t>Some of the platforms are like </a:t>
            </a:r>
            <a:r>
              <a:rPr lang="en-IN" dirty="0" err="1"/>
              <a:t>aws,azure,kubernets</a:t>
            </a:r>
            <a:r>
              <a:rPr lang="en-IN" dirty="0"/>
              <a:t>.</a:t>
            </a:r>
          </a:p>
          <a:p>
            <a:pPr marL="0" indent="0">
              <a:buNone/>
            </a:pPr>
            <a:endParaRPr lang="en-IN" dirty="0"/>
          </a:p>
          <a:p>
            <a:endParaRPr lang="en-IN" dirty="0"/>
          </a:p>
        </p:txBody>
      </p:sp>
    </p:spTree>
    <p:extLst>
      <p:ext uri="{BB962C8B-B14F-4D97-AF65-F5344CB8AC3E}">
        <p14:creationId xmlns:p14="http://schemas.microsoft.com/office/powerpoint/2010/main" val="4143784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4FCAF-A573-CB24-367A-00048C43F324}"/>
              </a:ext>
            </a:extLst>
          </p:cNvPr>
          <p:cNvSpPr>
            <a:spLocks noGrp="1"/>
          </p:cNvSpPr>
          <p:nvPr>
            <p:ph type="title"/>
          </p:nvPr>
        </p:nvSpPr>
        <p:spPr>
          <a:xfrm>
            <a:off x="609599" y="609600"/>
            <a:ext cx="6347713" cy="914400"/>
          </a:xfrm>
        </p:spPr>
        <p:txBody>
          <a:bodyPr/>
          <a:lstStyle/>
          <a:p>
            <a:r>
              <a:rPr lang="en-IN" dirty="0"/>
              <a:t>How terraform works!</a:t>
            </a:r>
          </a:p>
        </p:txBody>
      </p:sp>
      <p:pic>
        <p:nvPicPr>
          <p:cNvPr id="5" name="Content Placeholder 4">
            <a:extLst>
              <a:ext uri="{FF2B5EF4-FFF2-40B4-BE49-F238E27FC236}">
                <a16:creationId xmlns:a16="http://schemas.microsoft.com/office/drawing/2014/main" id="{8F1833AB-7B32-73FE-CCD6-BB5B441D40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8113" y="2057400"/>
            <a:ext cx="6348413" cy="4420183"/>
          </a:xfrm>
        </p:spPr>
      </p:pic>
    </p:spTree>
    <p:extLst>
      <p:ext uri="{BB962C8B-B14F-4D97-AF65-F5344CB8AC3E}">
        <p14:creationId xmlns:p14="http://schemas.microsoft.com/office/powerpoint/2010/main" val="4281375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chemeClr val="accent1"/>
                </a:solidFill>
                <a:latin typeface="Times New Roman" pitchFamily="18" charset="0"/>
                <a:cs typeface="Times New Roman" pitchFamily="18" charset="0"/>
              </a:rPr>
              <a:t>TERRAFORM COMMANDS</a:t>
            </a:r>
          </a:p>
        </p:txBody>
      </p:sp>
      <p:sp>
        <p:nvSpPr>
          <p:cNvPr id="3" name="Content Placeholder 2"/>
          <p:cNvSpPr>
            <a:spLocks noGrp="1"/>
          </p:cNvSpPr>
          <p:nvPr>
            <p:ph idx="1"/>
          </p:nvPr>
        </p:nvSpPr>
        <p:spPr>
          <a:xfrm>
            <a:off x="381000" y="1447800"/>
            <a:ext cx="7772400" cy="5105400"/>
          </a:xfrm>
        </p:spPr>
        <p:txBody>
          <a:bodyPr/>
          <a:lstStyle/>
          <a:p>
            <a:r>
              <a:rPr lang="en-US" dirty="0" err="1"/>
              <a:t>init</a:t>
            </a:r>
            <a:endParaRPr lang="en-US" dirty="0"/>
          </a:p>
          <a:p>
            <a:pPr marL="0" indent="0">
              <a:buNone/>
            </a:pPr>
            <a:r>
              <a:rPr lang="en-US" b="0" i="0" dirty="0">
                <a:solidFill>
                  <a:schemeClr val="tx1">
                    <a:lumMod val="95000"/>
                  </a:schemeClr>
                </a:solidFill>
                <a:effectLst/>
                <a:latin typeface="arial" panose="020B0604020202020204" pitchFamily="34" charset="0"/>
              </a:rPr>
              <a:t>The terraform </a:t>
            </a:r>
            <a:r>
              <a:rPr lang="en-US" b="0" i="0" dirty="0" err="1">
                <a:solidFill>
                  <a:schemeClr val="tx1">
                    <a:lumMod val="95000"/>
                  </a:schemeClr>
                </a:solidFill>
                <a:effectLst/>
                <a:latin typeface="arial" panose="020B0604020202020204" pitchFamily="34" charset="0"/>
              </a:rPr>
              <a:t>init</a:t>
            </a:r>
            <a:r>
              <a:rPr lang="en-US" b="0" i="0" dirty="0">
                <a:solidFill>
                  <a:schemeClr val="tx1">
                    <a:lumMod val="95000"/>
                  </a:schemeClr>
                </a:solidFill>
                <a:effectLst/>
                <a:latin typeface="arial" panose="020B0604020202020204" pitchFamily="34" charset="0"/>
              </a:rPr>
              <a:t> command is </a:t>
            </a:r>
            <a:r>
              <a:rPr lang="en-US" b="1" i="0" dirty="0">
                <a:solidFill>
                  <a:schemeClr val="tx1">
                    <a:lumMod val="95000"/>
                  </a:schemeClr>
                </a:solidFill>
                <a:effectLst/>
                <a:latin typeface="arial" panose="020B0604020202020204" pitchFamily="34" charset="0"/>
              </a:rPr>
              <a:t>used to initialize a working directory containing Terraform configuration file</a:t>
            </a:r>
            <a:r>
              <a:rPr lang="en-US" b="1" i="0" dirty="0">
                <a:solidFill>
                  <a:srgbClr val="202124"/>
                </a:solidFill>
                <a:effectLst/>
                <a:latin typeface="arial" panose="020B0604020202020204" pitchFamily="34" charset="0"/>
              </a:rPr>
              <a:t>s</a:t>
            </a:r>
            <a:r>
              <a:rPr lang="en-US" b="0" i="0" dirty="0">
                <a:solidFill>
                  <a:srgbClr val="202124"/>
                </a:solidFill>
                <a:effectLst/>
                <a:latin typeface="arial" panose="020B0604020202020204" pitchFamily="34" charset="0"/>
              </a:rPr>
              <a:t>..</a:t>
            </a:r>
            <a:endParaRPr lang="en-US" dirty="0"/>
          </a:p>
          <a:p>
            <a:r>
              <a:rPr lang="en-US" dirty="0"/>
              <a:t>plan</a:t>
            </a:r>
          </a:p>
          <a:p>
            <a:pPr marL="0" indent="0">
              <a:buNone/>
            </a:pPr>
            <a:r>
              <a:rPr lang="en-US" b="1" i="0" dirty="0">
                <a:solidFill>
                  <a:schemeClr val="tx1"/>
                </a:solidFill>
                <a:effectLst/>
                <a:latin typeface="arial" panose="020B0604020202020204" pitchFamily="34" charset="0"/>
              </a:rPr>
              <a:t>creates an execution plan, which lets you preview the changes that Terraform plans to make to your infrastructure</a:t>
            </a:r>
            <a:r>
              <a:rPr lang="en-US" b="0" i="0" dirty="0">
                <a:solidFill>
                  <a:schemeClr val="tx1"/>
                </a:solidFill>
                <a:effectLst/>
                <a:latin typeface="arial" panose="020B0604020202020204" pitchFamily="34" charset="0"/>
              </a:rPr>
              <a:t>.</a:t>
            </a:r>
            <a:endParaRPr lang="en-US" dirty="0">
              <a:solidFill>
                <a:schemeClr val="tx1"/>
              </a:solidFill>
            </a:endParaRPr>
          </a:p>
          <a:p>
            <a:r>
              <a:rPr lang="en-US" dirty="0"/>
              <a:t>Apply</a:t>
            </a:r>
          </a:p>
          <a:p>
            <a:pPr marL="0" indent="0">
              <a:buNone/>
            </a:pPr>
            <a:r>
              <a:rPr lang="en-US" dirty="0">
                <a:solidFill>
                  <a:schemeClr val="tx1"/>
                </a:solidFill>
              </a:rPr>
              <a:t>It executes the actions proposed in a terraform plan.</a:t>
            </a:r>
          </a:p>
          <a:p>
            <a:r>
              <a:rPr lang="en-US"/>
              <a:t>Destroy</a:t>
            </a:r>
            <a:endParaRPr lang="en-US" dirty="0"/>
          </a:p>
          <a:p>
            <a:pPr marL="0" indent="0">
              <a:buNone/>
            </a:pPr>
            <a:r>
              <a:rPr lang="en-US" b="1" i="0">
                <a:solidFill>
                  <a:schemeClr val="tx1"/>
                </a:solidFill>
                <a:effectLst/>
                <a:latin typeface="arial" panose="020B0604020202020204" pitchFamily="34" charset="0"/>
              </a:rPr>
              <a:t>terminates </a:t>
            </a:r>
            <a:r>
              <a:rPr lang="en-US" b="1" i="0" dirty="0">
                <a:solidFill>
                  <a:schemeClr val="tx1"/>
                </a:solidFill>
                <a:effectLst/>
                <a:latin typeface="arial" panose="020B0604020202020204" pitchFamily="34" charset="0"/>
              </a:rPr>
              <a:t>resources defined in your Terraform configuration</a:t>
            </a:r>
            <a:r>
              <a:rPr lang="en-US" b="0" i="0" dirty="0">
                <a:solidFill>
                  <a:schemeClr val="tx1"/>
                </a:solidFill>
                <a:effectLst/>
                <a:latin typeface="arial" panose="020B0604020202020204" pitchFamily="34" charset="0"/>
              </a:rPr>
              <a:t>. This command is the reverse of terraform apply in that it terminates all the resources specified by the configuration. It does not destroy resources running elsewhere that are not described in the current configuration.</a:t>
            </a:r>
            <a:endParaRPr lang="en-US"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F3E8-8320-6AB3-C2A4-B7E8ABCC1E9A}"/>
              </a:ext>
            </a:extLst>
          </p:cNvPr>
          <p:cNvSpPr>
            <a:spLocks noGrp="1"/>
          </p:cNvSpPr>
          <p:nvPr>
            <p:ph type="title"/>
          </p:nvPr>
        </p:nvSpPr>
        <p:spPr>
          <a:xfrm>
            <a:off x="571499" y="228600"/>
            <a:ext cx="8001001" cy="6553200"/>
          </a:xfrm>
        </p:spPr>
        <p:txBody>
          <a:bodyPr>
            <a:normAutofit fontScale="90000"/>
          </a:bodyPr>
          <a:lstStyle/>
          <a:p>
            <a:pPr algn="l"/>
            <a:r>
              <a:rPr lang="en-IN" u="sng" dirty="0"/>
              <a:t>ADVANTAGES:</a:t>
            </a:r>
            <a:br>
              <a:rPr lang="en-IN" dirty="0"/>
            </a:br>
            <a:r>
              <a:rPr lang="en-IN" dirty="0"/>
              <a:t>1.</a:t>
            </a:r>
            <a:r>
              <a:rPr lang="en-IN" sz="3200" dirty="0"/>
              <a:t> </a:t>
            </a:r>
            <a:r>
              <a:rPr lang="en-US" b="0" i="0" dirty="0">
                <a:solidFill>
                  <a:schemeClr val="tx1"/>
                </a:solidFill>
                <a:effectLst/>
                <a:latin typeface="var(--font-body)"/>
              </a:rPr>
              <a:t>Terraform can manage infrastructure on     	multiple cloud platforms.</a:t>
            </a:r>
            <a:br>
              <a:rPr lang="en-US" b="0" i="0" dirty="0">
                <a:solidFill>
                  <a:schemeClr val="tx1"/>
                </a:solidFill>
                <a:effectLst/>
                <a:latin typeface="var(--font-body)"/>
              </a:rPr>
            </a:br>
            <a:r>
              <a:rPr lang="en-US" b="0" i="0" dirty="0">
                <a:solidFill>
                  <a:schemeClr val="tx1"/>
                </a:solidFill>
                <a:effectLst/>
                <a:latin typeface="var(--font-body)"/>
              </a:rPr>
              <a:t>2. The human-readable configuration language 	helps you write infrastructure code quickly.</a:t>
            </a:r>
            <a:br>
              <a:rPr lang="en-US" b="0" i="0" dirty="0">
                <a:solidFill>
                  <a:schemeClr val="tx1"/>
                </a:solidFill>
                <a:effectLst/>
                <a:latin typeface="var(--font-body)"/>
              </a:rPr>
            </a:br>
            <a:r>
              <a:rPr lang="en-US" b="0" i="0" dirty="0">
                <a:solidFill>
                  <a:schemeClr val="tx1"/>
                </a:solidFill>
                <a:effectLst/>
                <a:latin typeface="var(--font-body)"/>
              </a:rPr>
              <a:t>3. </a:t>
            </a:r>
            <a:r>
              <a:rPr lang="en-US" b="0" i="0" dirty="0" err="1">
                <a:solidFill>
                  <a:schemeClr val="tx1"/>
                </a:solidFill>
                <a:effectLst/>
                <a:latin typeface="var(--font-body)"/>
              </a:rPr>
              <a:t>Terraform's</a:t>
            </a:r>
            <a:r>
              <a:rPr lang="en-US" b="0" i="0" dirty="0">
                <a:solidFill>
                  <a:schemeClr val="tx1"/>
                </a:solidFill>
                <a:effectLst/>
                <a:latin typeface="var(--font-body)"/>
              </a:rPr>
              <a:t> state allows you to track 	resource changes throughout your 	deployments.</a:t>
            </a:r>
            <a:br>
              <a:rPr lang="en-US" b="0" i="0" dirty="0">
                <a:solidFill>
                  <a:schemeClr val="tx1"/>
                </a:solidFill>
                <a:effectLst/>
                <a:latin typeface="var(--font-body)"/>
              </a:rPr>
            </a:br>
            <a:r>
              <a:rPr lang="en-US" b="0" i="0" dirty="0">
                <a:solidFill>
                  <a:schemeClr val="tx1"/>
                </a:solidFill>
                <a:effectLst/>
                <a:latin typeface="var(--font-body)"/>
              </a:rPr>
              <a:t>4. No need to remember the current state.</a:t>
            </a:r>
            <a:br>
              <a:rPr lang="en-US" b="0" i="0" dirty="0">
                <a:solidFill>
                  <a:schemeClr val="tx1"/>
                </a:solidFill>
                <a:effectLst/>
                <a:latin typeface="var(--font-body)"/>
              </a:rPr>
            </a:br>
            <a:r>
              <a:rPr lang="en-US" b="0" i="0" dirty="0">
                <a:solidFill>
                  <a:schemeClr val="tx1"/>
                </a:solidFill>
                <a:effectLst/>
                <a:latin typeface="var(--font-body)"/>
              </a:rPr>
              <a:t>5. Terraform is an idempotent.</a:t>
            </a:r>
            <a:br>
              <a:rPr lang="en-US" b="0" i="0" dirty="0">
                <a:solidFill>
                  <a:schemeClr val="tx1"/>
                </a:solidFill>
                <a:effectLst/>
                <a:latin typeface="var(--font-body)"/>
              </a:rPr>
            </a:br>
            <a:r>
              <a:rPr lang="en-US" b="0" i="0" dirty="0">
                <a:solidFill>
                  <a:schemeClr val="tx1"/>
                </a:solidFill>
                <a:effectLst/>
                <a:latin typeface="var(--font-body)"/>
              </a:rPr>
              <a:t>6. provider translates config file to something</a:t>
            </a:r>
            <a:br>
              <a:rPr lang="en-US" b="0" i="0" dirty="0">
                <a:solidFill>
                  <a:schemeClr val="tx1"/>
                </a:solidFill>
                <a:effectLst/>
                <a:latin typeface="var(--font-body)"/>
              </a:rPr>
            </a:br>
            <a:r>
              <a:rPr lang="en-US" b="0" i="0" dirty="0">
                <a:solidFill>
                  <a:schemeClr val="tx1"/>
                </a:solidFill>
                <a:effectLst/>
                <a:latin typeface="var(--font-body)"/>
              </a:rPr>
              <a:t>	that </a:t>
            </a:r>
            <a:r>
              <a:rPr lang="en-US" b="0" i="0" dirty="0" err="1">
                <a:solidFill>
                  <a:schemeClr val="tx1"/>
                </a:solidFill>
                <a:effectLst/>
                <a:latin typeface="var(--font-body)"/>
              </a:rPr>
              <a:t>aws</a:t>
            </a:r>
            <a:r>
              <a:rPr lang="en-US" b="0" i="0" dirty="0">
                <a:solidFill>
                  <a:schemeClr val="tx1"/>
                </a:solidFill>
                <a:effectLst/>
                <a:latin typeface="var(--font-body)"/>
              </a:rPr>
              <a:t> API understands.</a:t>
            </a:r>
            <a:br>
              <a:rPr lang="en-US" b="0" i="0" dirty="0">
                <a:solidFill>
                  <a:schemeClr val="tx1"/>
                </a:solidFill>
                <a:effectLst/>
                <a:latin typeface="var(--font-body)"/>
              </a:rPr>
            </a:br>
            <a:r>
              <a:rPr lang="en-US" b="0" i="0" dirty="0">
                <a:solidFill>
                  <a:schemeClr val="tx1"/>
                </a:solidFill>
                <a:effectLst/>
                <a:latin typeface="var(--font-body)"/>
              </a:rPr>
              <a:t> </a:t>
            </a:r>
            <a:br>
              <a:rPr lang="en-US" b="0" i="0" dirty="0">
                <a:solidFill>
                  <a:schemeClr val="tx1"/>
                </a:solidFill>
                <a:effectLst/>
                <a:latin typeface="var(--font-body)"/>
              </a:rPr>
            </a:br>
            <a:br>
              <a:rPr lang="en-US" b="0" i="0" dirty="0">
                <a:solidFill>
                  <a:srgbClr val="343536"/>
                </a:solidFill>
                <a:effectLst/>
                <a:latin typeface="var(--font-body)"/>
              </a:rPr>
            </a:br>
            <a:endParaRPr lang="en-IN" dirty="0"/>
          </a:p>
        </p:txBody>
      </p:sp>
    </p:spTree>
    <p:extLst>
      <p:ext uri="{BB962C8B-B14F-4D97-AF65-F5344CB8AC3E}">
        <p14:creationId xmlns:p14="http://schemas.microsoft.com/office/powerpoint/2010/main" val="163624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00300"/>
            <a:ext cx="7162800" cy="2057400"/>
          </a:xfrm>
        </p:spPr>
        <p:txBody>
          <a:bodyPr>
            <a:noAutofit/>
          </a:bodyPr>
          <a:lstStyle/>
          <a:p>
            <a:r>
              <a:rPr lang="en-US" sz="8800" dirty="0">
                <a:latin typeface="Algerian" pitchFamily="82" charset="0"/>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885</TotalTime>
  <Words>614</Words>
  <Application>Microsoft Office PowerPoint</Application>
  <PresentationFormat>On-screen Show (4:3)</PresentationFormat>
  <Paragraphs>62</Paragraphs>
  <Slides>13</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Algerian</vt:lpstr>
      <vt:lpstr>arial</vt:lpstr>
      <vt:lpstr>arial</vt:lpstr>
      <vt:lpstr>Arial Black</vt:lpstr>
      <vt:lpstr>gotham</vt:lpstr>
      <vt:lpstr>gotham-medium</vt:lpstr>
      <vt:lpstr>Times New Roman</vt:lpstr>
      <vt:lpstr>Trebuchet MS</vt:lpstr>
      <vt:lpstr>var(--font-body)</vt:lpstr>
      <vt:lpstr>Wingdings</vt:lpstr>
      <vt:lpstr>Wingdings 3</vt:lpstr>
      <vt:lpstr>Facet</vt:lpstr>
      <vt:lpstr>AUTOMATE INFRASTRUCTURE  IN AWS CLOUD</vt:lpstr>
      <vt:lpstr>AWS (Amazon web services)</vt:lpstr>
      <vt:lpstr>AUTOMATE INFRASTRUCTURE IN AWS CLOUD</vt:lpstr>
      <vt:lpstr>CLOUD FORMATION</vt:lpstr>
      <vt:lpstr>CLOUD FORMATION SAMPLE TEMPLATE FOR AUTOMATE EC2 INSTANCE</vt:lpstr>
      <vt:lpstr>DRAWBACKS OF CLOUD FORMATION</vt:lpstr>
      <vt:lpstr>TERRAFORM</vt:lpstr>
      <vt:lpstr>PowerPoint Presentation</vt:lpstr>
      <vt:lpstr>ARCHITECTURE COMPONENTS</vt:lpstr>
      <vt:lpstr>How terraform works!</vt:lpstr>
      <vt:lpstr>TERRAFORM COMMANDS</vt:lpstr>
      <vt:lpstr>ADVANTAGES: 1. Terraform can manage infrastructure on      multiple cloud platforms. 2. The human-readable configuration language  helps you write infrastructure code quickly. 3. Terraform's state allows you to track  resource changes throughout your  deployments. 4. No need to remember the current state. 5. Terraform is an idempotent. 6. provider translates config file to something  that aws API understands.    </vt:lpstr>
      <vt:lpstr>THANK YOU</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 INFRASTRUCTURE IN AWS CLOUD</dc:title>
  <dc:creator>gumpe</dc:creator>
  <cp:lastModifiedBy>kamalatha p</cp:lastModifiedBy>
  <cp:revision>27</cp:revision>
  <dcterms:created xsi:type="dcterms:W3CDTF">2022-05-13T08:47:37Z</dcterms:created>
  <dcterms:modified xsi:type="dcterms:W3CDTF">2022-05-14T06:55:36Z</dcterms:modified>
</cp:coreProperties>
</file>